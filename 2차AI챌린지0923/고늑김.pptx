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NeoDunggeunmo Pro" panose="02010503060201040203" pitchFamily="2" charset="-127"/>
      <p:regular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Press Start 2P" panose="02000503000000000000" pitchFamily="1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92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KAGGLE VQA - 2026.09.23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125095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 속 글자를 읽고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4지선다 풀기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26479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 번에 한 가지만 바꿔서, 무엇이 점수를 올리는지 찾았다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5500" y="4521200"/>
            <a:ext cx="2151459" cy="13081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3600" y="4559300"/>
            <a:ext cx="2075259" cy="12319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4743450"/>
            <a:ext cx="1758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START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4997450"/>
            <a:ext cx="175816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0.70241</a:t>
            </a:r>
            <a:endParaRPr lang="en-US" dirty="0"/>
          </a:p>
        </p:txBody>
      </p:sp>
      <p:pic>
        <p:nvPicPr>
          <p:cNvPr id="11" name="Image 0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43659" y="4946650"/>
            <a:ext cx="552450" cy="457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62809" y="4521200"/>
            <a:ext cx="2151459" cy="13081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00909" y="4559300"/>
            <a:ext cx="2075259" cy="12319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5059" y="4743450"/>
            <a:ext cx="1758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HIGH SCORE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85059" y="4997450"/>
            <a:ext cx="175816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0.96872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0312400" y="4667250"/>
            <a:ext cx="111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PLAYERS</a:t>
            </a:r>
            <a:endParaRPr lang="en-US" sz="1200" dirty="0"/>
          </a:p>
        </p:txBody>
      </p:sp>
      <p:pic>
        <p:nvPicPr>
          <p:cNvPr id="17" name="Image 1" descr="플레이어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45600" y="4953000"/>
            <a:ext cx="457200" cy="361950"/>
          </a:xfrm>
          <a:prstGeom prst="rect">
            <a:avLst/>
          </a:prstGeom>
        </p:spPr>
      </p:pic>
      <p:pic>
        <p:nvPicPr>
          <p:cNvPr id="18" name="Image 2" descr="플레이어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04400" y="4953000"/>
            <a:ext cx="457200" cy="361950"/>
          </a:xfrm>
          <a:prstGeom prst="rect">
            <a:avLst/>
          </a:prstGeom>
        </p:spPr>
      </p:pic>
      <p:pic>
        <p:nvPicPr>
          <p:cNvPr id="19" name="Image 3" descr="플레이어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63200" y="4953000"/>
            <a:ext cx="457200" cy="361950"/>
          </a:xfrm>
          <a:prstGeom prst="rect">
            <a:avLst/>
          </a:prstGeom>
        </p:spPr>
      </p:pic>
      <p:pic>
        <p:nvPicPr>
          <p:cNvPr id="20" name="Image 4" descr="플레이어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22000" y="4953000"/>
            <a:ext cx="457200" cy="3619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33850" y="624840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PRESS START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5870DC2-90F8-428C-9EDB-4107CD52318A}"/>
              </a:ext>
            </a:extLst>
          </p:cNvPr>
          <p:cNvSpPr/>
          <p:nvPr/>
        </p:nvSpPr>
        <p:spPr>
          <a:xfrm>
            <a:off x="8058150" y="5391150"/>
            <a:ext cx="33933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A011 </a:t>
            </a:r>
            <a:r>
              <a:rPr lang="ko-KR" alt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고독한 늑대 김준호의 수제자</a:t>
            </a:r>
            <a:endParaRPr lang="en-US" sz="16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4772808B-BDF6-46E8-8BE2-F268E84EB6B1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HOW TO PLAY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 속 글자를 읽어야 정답을 고를 수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2209800"/>
            <a:ext cx="2206228" cy="13462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2247900"/>
            <a:ext cx="2130028" cy="12700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2381250"/>
            <a:ext cx="1919228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 1장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6950" y="2857500"/>
            <a:ext cx="191922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간판 · 메뉴 · 가격표 · 안내문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70482" y="2807195"/>
            <a:ext cx="3879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473748" y="2209800"/>
            <a:ext cx="2206327" cy="13462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848" y="2247900"/>
            <a:ext cx="2130127" cy="12700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5198" y="2381250"/>
            <a:ext cx="191933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한국어 질문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45198" y="2857500"/>
            <a:ext cx="19193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 내용을 묻는다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8829" y="2807195"/>
            <a:ext cx="3879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122095" y="2209800"/>
            <a:ext cx="2206228" cy="13462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0195" y="2247900"/>
            <a:ext cx="2130028" cy="12700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3545" y="2381250"/>
            <a:ext cx="1919228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보기 4개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93545" y="2857500"/>
            <a:ext cx="19192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그중 하나가 정답</a:t>
            </a:r>
            <a:endParaRPr lang="en-US" sz="1600" dirty="0"/>
          </a:p>
        </p:txBody>
      </p:sp>
      <p:pic>
        <p:nvPicPr>
          <p:cNvPr id="20" name="Image 0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68023" y="2654300"/>
            <a:ext cx="552450" cy="457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160173" y="2209800"/>
            <a:ext cx="2206327" cy="134620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98273" y="2247900"/>
            <a:ext cx="2130127" cy="127000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1623" y="2381250"/>
            <a:ext cx="191933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정답 1개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331622" y="2857500"/>
            <a:ext cx="19967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대부분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글자를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읽어야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풀린다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2800" y="4146550"/>
            <a:ext cx="2563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6,714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12800" y="4730750"/>
            <a:ext cx="25638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문항 (정답 있음)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505200" y="4146550"/>
            <a:ext cx="2563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6,714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3505200" y="4730750"/>
            <a:ext cx="25638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테스트 문항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197600" y="4146550"/>
            <a:ext cx="2563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720x960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197600" y="4730750"/>
            <a:ext cx="25638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대부분의 사진 크기 (세로)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890000" y="4146550"/>
            <a:ext cx="2563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0.70241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8890000" y="4730750"/>
            <a:ext cx="25638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제공 베이스라인 점수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점수 읽는 법: 내부 검증 = 떼어 둔 1,074문항 · Kaggle = Public 3,357문항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02/18</a:t>
            </a:r>
            <a:endParaRPr lang="en-US" sz="160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C6EAE2D2-F9FD-4597-8F3E-33497AB8DE52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FFDF4435-9627-48A5-9A56-9AA05A795CD7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PLAYER SELECT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모든 실험의 기준 모델을 먼저 만들었다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1885950"/>
            <a:ext cx="5308600" cy="282575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1924050"/>
            <a:ext cx="5232400" cy="274955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2108200"/>
            <a:ext cx="50100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PLAYER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750" y="2510068"/>
            <a:ext cx="939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MODEL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89150" y="2470150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Qwen3-VL 4B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89150" y="2762250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사진과 글을 함께 이해하는 모델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7750" y="3242501"/>
            <a:ext cx="939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LOAD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9150" y="3202583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4비트로 압축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89150" y="3494683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16GB 그래픽카드 한 장에 올림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" y="3974834"/>
            <a:ext cx="939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TRAIN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89150" y="3934916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LoRA 1회 학습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9150" y="4227016"/>
            <a:ext cx="3937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모델 전체 대신 얇은 추가층만 학습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1600" y="187325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내부 검증 정확도 · 1칸 = 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1600" y="2241550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전</a:t>
            </a:r>
            <a:endParaRPr lang="en-US" sz="1600" dirty="0"/>
          </a:p>
        </p:txBody>
      </p:sp>
      <p:pic>
        <p:nvPicPr>
          <p:cNvPr id="20" name="Image 0" descr="학습 전 83.71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2289175"/>
            <a:ext cx="2647950" cy="1714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64749" y="2247900"/>
            <a:ext cx="9614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83.71%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51600" y="2609850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후</a:t>
            </a:r>
            <a:endParaRPr lang="en-US" sz="1600" dirty="0"/>
          </a:p>
        </p:txBody>
      </p:sp>
      <p:pic>
        <p:nvPicPr>
          <p:cNvPr id="23" name="Image 1" descr="학습 후 90.41%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0" y="2657475"/>
            <a:ext cx="2838450" cy="1714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255250" y="26162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90.41%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451600" y="3079750"/>
            <a:ext cx="507542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0.89037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6451600" y="374015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Public 점수 (베이스라인 0.70241)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51600" y="4159250"/>
            <a:ext cx="507542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0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43분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6451600" y="474345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16GB 그래픽카드 한 장에서 학습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03/18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E0A22A3-0AB5-4F9A-9BA1-2836AD2811D1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9EEDCDAA-50C3-4399-BF8F-82B664F8119C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 번에 한 축만 바꾸고, 규칙은 먼저 정했다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2378075"/>
            <a:ext cx="5181600" cy="11303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2416175"/>
            <a:ext cx="5105400" cy="10541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2574925"/>
            <a:ext cx="493153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 번에 한 축만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2350" y="3051175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하나만 바꿔야 원인을 알 수 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4900" y="2378075"/>
            <a:ext cx="5181600" cy="11303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23000" y="2416175"/>
            <a:ext cx="5105400" cy="10541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2574925"/>
            <a:ext cx="493153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고정 분할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81750" y="3051175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4,297 / 검증 1,074 / 확인 1,343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" y="3686175"/>
            <a:ext cx="5181600" cy="113030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3600" y="3724275"/>
            <a:ext cx="5105400" cy="105410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350" y="3883025"/>
            <a:ext cx="493153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우연 폭을 넘어야 효과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22350" y="4359275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운으로 생기는 차이(95%)보다 커야 인정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84900" y="3686175"/>
            <a:ext cx="5181600" cy="113030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3000" y="3724275"/>
            <a:ext cx="5105400" cy="105410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1750" y="3883025"/>
            <a:ext cx="493153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결과 전에 규칙 커밋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81750" y="4359275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점수를 보고 고르면 Public에만 맞춰진다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5616575"/>
            <a:ext cx="1447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4P CO-OP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13000" y="5534025"/>
            <a:ext cx="92351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원클릭 실험 패키지로 4명이 각자 PC에서 동시에 · 큰 모델은 Colab A100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04/18</a:t>
            </a:r>
            <a:endParaRPr lang="en-US" sz="16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145C333B-3993-49CB-8F29-BC5B6BC6EA45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B0A11660-082E-437D-920B-13CD42962D84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WORLD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3일 동안 세 단계로 진행했다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1885950"/>
            <a:ext cx="3149600" cy="315595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1924050"/>
            <a:ext cx="3073400" cy="307975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2057400"/>
            <a:ext cx="28385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DAY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2350" y="23812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9/21 · 준비와 출발점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2350" y="27241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데이터 점검, 고정 분할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2350" y="30670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공통 출발점 학습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2350" y="34099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팀원용 원클릭 실험 패키지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2350" y="4083050"/>
            <a:ext cx="2838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2350" y="4362450"/>
            <a:ext cx="283857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0.89037</a:t>
            </a:r>
            <a:endParaRPr lang="en-US" sz="2400" dirty="0"/>
          </a:p>
        </p:txBody>
      </p:sp>
      <p:pic>
        <p:nvPicPr>
          <p:cNvPr id="15" name="Image 0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3235325"/>
            <a:ext cx="2667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21200" y="1885950"/>
            <a:ext cx="3149600" cy="315595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59300" y="1924050"/>
            <a:ext cx="3073400" cy="307975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050" y="2057400"/>
            <a:ext cx="28385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DAY 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18050" y="23812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9/22 · 1-2단계 실험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18050" y="2724150"/>
            <a:ext cx="28385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2080"/>
              </a:lnSpc>
            </a:pP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</a:t>
            </a:r>
            <a:r>
              <a:rPr lang="en-US" sz="15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축별</a:t>
            </a: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5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병렬</a:t>
            </a: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5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실행</a:t>
            </a:r>
            <a:b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</a:b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 ▶ 해상도·크기 채택, OCR 탈락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18050" y="33337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- 2×2 조합 완성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18050" y="36766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- 32B 학습 시작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18050" y="4095750"/>
            <a:ext cx="2838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SCORE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18050" y="4375150"/>
            <a:ext cx="283857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0.95233</a:t>
            </a:r>
            <a:endParaRPr lang="en-US" sz="2400" dirty="0"/>
          </a:p>
        </p:txBody>
      </p:sp>
      <p:pic>
        <p:nvPicPr>
          <p:cNvPr id="25" name="Image 1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0500" y="3235325"/>
            <a:ext cx="266700" cy="4572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216900" y="1885950"/>
            <a:ext cx="3149600" cy="315595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55000" y="1924050"/>
            <a:ext cx="3073400" cy="307975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13750" y="2057400"/>
            <a:ext cx="28385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DAY 3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413750" y="23812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9/23 · 3단계 앙상블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413750" y="2724150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- 32B 제출 (0.95621)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413750" y="3067050"/>
            <a:ext cx="28385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</a:t>
            </a:r>
            <a:r>
              <a:rPr lang="en-US" sz="15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앙상블</a:t>
            </a: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 </a:t>
            </a:r>
            <a:r>
              <a:rPr lang="en-US" sz="15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</a:t>
            </a:r>
            <a:r>
              <a:rPr lang="en-US" sz="15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문항 재채점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8413749" y="3463925"/>
            <a:ext cx="28385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- 5자 투표 완성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8413750" y="4095750"/>
            <a:ext cx="2838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SCORE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413750" y="4375150"/>
            <a:ext cx="283857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4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0.96872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05/18</a:t>
            </a:r>
            <a:endParaRPr lang="en-US" sz="16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59F00606-52BE-4556-A347-9FAE0AEC83C9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C47C7647-A989-4CC5-8712-00867D4C61CD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STAGE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해상도가 점수를 가장 크게 올렸다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2647950"/>
            <a:ext cx="105664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1885950"/>
            <a:ext cx="287782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해상도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2311400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내부 검증 기준 · 512² ▶ 768²</a:t>
            </a:r>
            <a:endParaRPr lang="en-US" sz="1600" dirty="0"/>
          </a:p>
        </p:txBody>
      </p:sp>
      <p:pic>
        <p:nvPicPr>
          <p:cNvPr id="9" name="Image 0" descr="추론 해상도 +3.17%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0" y="2098675"/>
            <a:ext cx="30289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1350" y="2079625"/>
            <a:ext cx="12026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+3.17%p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220200" y="195262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+3.99%p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20200" y="224472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채택 · 가장 큰 효과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800" y="3479800"/>
            <a:ext cx="105664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2800" y="2717800"/>
            <a:ext cx="287782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모델 크기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12800" y="3143250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4B ▶ 8B</a:t>
            </a:r>
            <a:endParaRPr lang="en-US" sz="1600" dirty="0"/>
          </a:p>
        </p:txBody>
      </p:sp>
      <p:pic>
        <p:nvPicPr>
          <p:cNvPr id="16" name="Image 1" descr="모델 크기 +1.58%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0" y="2930525"/>
            <a:ext cx="1504950" cy="2667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43860" y="2906116"/>
            <a:ext cx="904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+1.58%p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220200" y="278447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+2.23%p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220200" y="307657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채택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12800" y="4311650"/>
            <a:ext cx="105664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2800" y="3549650"/>
            <a:ext cx="287782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OCR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12800" y="3975100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OCR 결과를 함께 입력</a:t>
            </a:r>
            <a:endParaRPr lang="en-US" sz="1600" dirty="0"/>
          </a:p>
        </p:txBody>
      </p:sp>
      <p:pic>
        <p:nvPicPr>
          <p:cNvPr id="23" name="Image 2" descr="OCR +0.47%p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0" y="3762375"/>
            <a:ext cx="457200" cy="2667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19600" y="3743325"/>
            <a:ext cx="138743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+0.47%p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220200" y="361632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제출 안 함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220200" y="3908425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탈락 · 우연 폭 안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25500" y="4533900"/>
            <a:ext cx="3719314" cy="5080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3600" y="4572000"/>
            <a:ext cx="3643114" cy="4318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22350" y="4654550"/>
            <a:ext cx="34253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가격 문항 77.27% ▶ 89.09%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4722614" y="4533900"/>
            <a:ext cx="6643886" cy="50800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760714" y="4572000"/>
            <a:ext cx="6567686" cy="43180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919464" y="4654550"/>
            <a:ext cx="64376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OCR 탈락: 우연 폭 안, 정보가 겹친 듯(추정) ▶ 해상도에 집중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06/18</a:t>
            </a:r>
            <a:endParaRPr lang="en-US" sz="1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0242DC87-9E41-42E3-AD8E-B9DCC341CEF3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6B63B9B8-3C50-46DB-BFE9-CF96A90F4E2B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COMBO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두 효과는 서로 겹치지 않고 그대로 더해졌다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1822450"/>
            <a:ext cx="7573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Public 점수 · 네 조합을 모두 제출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540000"/>
            <a:ext cx="73533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25425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65300" y="2190750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512²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06900" y="2190750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768²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1200" y="2190750"/>
            <a:ext cx="1130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해상도 효과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2832100"/>
            <a:ext cx="939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4B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816100" y="2660650"/>
            <a:ext cx="2514600" cy="7493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4200" y="2698750"/>
            <a:ext cx="2438400" cy="6731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2651" y="2781300"/>
            <a:ext cx="23414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0.89037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457700" y="2660650"/>
            <a:ext cx="2514600" cy="7493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5800" y="2698750"/>
            <a:ext cx="2438400" cy="6731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251" y="2781300"/>
            <a:ext cx="23414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0.93029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61200" y="2908300"/>
            <a:ext cx="1130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+3.99%p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800" y="3708400"/>
            <a:ext cx="939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8B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816100" y="3536950"/>
            <a:ext cx="2514600" cy="7493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4200" y="3575050"/>
            <a:ext cx="2438400" cy="6731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2651" y="3657600"/>
            <a:ext cx="23414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0.91271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457700" y="3536950"/>
            <a:ext cx="2514600" cy="7493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5800" y="3575050"/>
            <a:ext cx="2438400" cy="6731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251" y="3657600"/>
            <a:ext cx="23414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2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0.95233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61200" y="3784600"/>
            <a:ext cx="1130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+3.96%p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2800" y="4406900"/>
            <a:ext cx="73533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622800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크기 효과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65300" y="4629150"/>
            <a:ext cx="2616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+2.23%p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406900" y="4629150"/>
            <a:ext cx="2616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+2.20%p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23101" y="4596330"/>
            <a:ext cx="136359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겹침 -0.03%p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21700" y="1822450"/>
            <a:ext cx="2943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TOTAL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21700" y="2133600"/>
            <a:ext cx="294322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+6.2%p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8521700" y="2870200"/>
            <a:ext cx="326456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해상도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효과(+4.0%p):</a:t>
            </a:r>
            <a:b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</a:b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모델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크기와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상관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X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크기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효과(+2.2%p):</a:t>
            </a:r>
            <a:b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</a:b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 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해상도와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상</a:t>
            </a:r>
            <a:r>
              <a:rPr lang="ko-KR" alt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관 </a:t>
            </a:r>
            <a:r>
              <a:rPr lang="en-US" altLang="ko-KR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21700" y="4057650"/>
            <a:ext cx="31744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그래서 </a:t>
            </a:r>
            <a:r>
              <a:rPr lang="en-US" sz="1600" dirty="0" err="1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다음</a:t>
            </a: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단계에서도</a:t>
            </a:r>
            <a:endParaRPr lang="en-US" sz="1600" dirty="0">
              <a:solidFill>
                <a:srgbClr val="FFD23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축을</a:t>
            </a: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따로 재고 합칠 수 있었다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07/18</a:t>
            </a:r>
            <a:endParaRPr lang="en-US" sz="160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AB87ACA5-1E12-4DA6-AFAA-2908C03861AF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E271ADFC-EFF0-4579-9B0C-C1979A89110C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STAGE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해상도는 추론에서만, 크기는 8B까지만 통했다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1784350"/>
            <a:ext cx="3395067" cy="205105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1822450"/>
            <a:ext cx="3318867" cy="197485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1955800"/>
            <a:ext cx="314373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1024²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6950" y="2406650"/>
            <a:ext cx="31437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4B: 0.93029 ▶ 0.93863 (+28문항)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6950" y="2724150"/>
            <a:ext cx="31437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8B: 내부 검증 +2문항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950" y="3346450"/>
            <a:ext cx="2298700" cy="317500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73150" y="3371850"/>
            <a:ext cx="22106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0D0D1A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4B만 효과 · 폭은 작아짐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98367" y="1784350"/>
            <a:ext cx="3395166" cy="205105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6467" y="1822450"/>
            <a:ext cx="3318966" cy="197485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9817" y="1955800"/>
            <a:ext cx="314383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768²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69817" y="2406650"/>
            <a:ext cx="31438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4B를 768²로 다시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추론은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그대로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9817" y="2990850"/>
            <a:ext cx="31438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+7문항 (우연 폭 ±16 안)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69817" y="3359150"/>
            <a:ext cx="1028700" cy="317500"/>
          </a:xfrm>
          <a:prstGeom prst="rect">
            <a:avLst/>
          </a:prstGeom>
          <a:solidFill>
            <a:srgbClr val="FF4365"/>
          </a:solidFill>
          <a:ln/>
        </p:spPr>
      </p:sp>
      <p:sp>
        <p:nvSpPr>
          <p:cNvPr id="19" name="Text 17"/>
          <p:cNvSpPr/>
          <p:nvPr/>
        </p:nvSpPr>
        <p:spPr>
          <a:xfrm>
            <a:off x="4646017" y="3384550"/>
            <a:ext cx="927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0D0D1A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효과 없음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71334" y="1784350"/>
            <a:ext cx="3395166" cy="205105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9434" y="1822450"/>
            <a:ext cx="3318966" cy="197485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2784" y="1955800"/>
            <a:ext cx="314383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모델 32B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142784" y="2406650"/>
            <a:ext cx="31438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1024²로 학습·추론 (전체 데이터)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42783" y="2724150"/>
            <a:ext cx="340151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 0.95621 vs 8B 0.95680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altLang="ko-KR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          (</a:t>
            </a:r>
            <a:r>
              <a:rPr lang="ko-KR" alt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같은 방식</a:t>
            </a:r>
            <a:r>
              <a:rPr lang="en-US" altLang="ko-KR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42784" y="3359150"/>
            <a:ext cx="2628900" cy="317500"/>
          </a:xfrm>
          <a:prstGeom prst="rect">
            <a:avLst/>
          </a:prstGeom>
          <a:solidFill>
            <a:srgbClr val="FF4365"/>
          </a:solidFill>
          <a:ln/>
        </p:spPr>
      </p:sp>
      <p:sp>
        <p:nvSpPr>
          <p:cNvPr id="26" name="Text 24"/>
          <p:cNvSpPr/>
          <p:nvPr/>
        </p:nvSpPr>
        <p:spPr>
          <a:xfrm>
            <a:off x="8218984" y="3384550"/>
            <a:ext cx="25507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0D0D1A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8B와 같음 · 기대 0.968 미달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4041775"/>
            <a:ext cx="66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WHY?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74800" y="4000500"/>
            <a:ext cx="29824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왜 학습 해상도는 효과가 없었나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" y="4527550"/>
            <a:ext cx="685800" cy="444500"/>
          </a:xfrm>
          <a:prstGeom prst="rect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200" y="4616450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사진</a:t>
            </a:r>
            <a:endParaRPr lang="en-US" sz="1600" dirty="0"/>
          </a:p>
        </p:txBody>
      </p:sp>
      <p:pic>
        <p:nvPicPr>
          <p:cNvPr id="31" name="Image 0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5600" y="4521200"/>
            <a:ext cx="266700" cy="4572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2006600" y="4381500"/>
            <a:ext cx="1219200" cy="7366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146300" y="4470400"/>
            <a:ext cx="990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시각 부분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146300" y="4762500"/>
            <a:ext cx="990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안 함</a:t>
            </a:r>
            <a:endParaRPr lang="en-US" sz="1600" dirty="0"/>
          </a:p>
        </p:txBody>
      </p:sp>
      <p:pic>
        <p:nvPicPr>
          <p:cNvPr id="35" name="Image 1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100" y="4521200"/>
            <a:ext cx="266700" cy="45720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721100" y="4381500"/>
            <a:ext cx="1778000" cy="7366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860800" y="4470400"/>
            <a:ext cx="154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언어 부분 + LoRA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3860800" y="4762500"/>
            <a:ext cx="154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여기만 학습</a:t>
            </a:r>
            <a:endParaRPr lang="en-US" sz="1600" dirty="0"/>
          </a:p>
        </p:txBody>
      </p:sp>
      <p:pic>
        <p:nvPicPr>
          <p:cNvPr id="39" name="Image 2" descr="오른쪽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3400" y="4521200"/>
            <a:ext cx="266700" cy="45720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5994400" y="4527550"/>
            <a:ext cx="482600" cy="444500"/>
          </a:xfrm>
          <a:prstGeom prst="rect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134100" y="4616450"/>
            <a:ext cx="25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답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6692900" y="4483100"/>
            <a:ext cx="48268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어떤 해상도로 학습해도 시각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부분은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그대로</a:t>
            </a:r>
            <a:endParaRPr lang="en-US" sz="1600" dirty="0">
              <a:solidFill>
                <a:srgbClr val="7CFC00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▶ 해상도는 추론할 때만 효과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08/18</a:t>
            </a:r>
            <a:endParaRPr lang="en-US" sz="16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48822332-F605-4B2D-AC3F-659F0981D5A4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9D559744-7D86-4959-8D98-1619A63785BE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BOSS: 32B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모델이 클수록 추가 학습으로 얻는 몫이 줄었다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1822450"/>
            <a:ext cx="3924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더 맞힌 문항 수 (내부 검증) · 1칸 = 4문항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4340225"/>
            <a:ext cx="381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940" y="2254250"/>
            <a:ext cx="8202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+72</a:t>
            </a:r>
            <a:endParaRPr lang="en-US" sz="2400" dirty="0"/>
          </a:p>
        </p:txBody>
      </p:sp>
      <p:pic>
        <p:nvPicPr>
          <p:cNvPr id="9" name="Image 0" descr="+7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6842" y="2635250"/>
            <a:ext cx="552450" cy="1695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16085" y="3111500"/>
            <a:ext cx="6061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+34</a:t>
            </a:r>
            <a:endParaRPr lang="en-US" sz="2400" dirty="0"/>
          </a:p>
        </p:txBody>
      </p:sp>
      <p:pic>
        <p:nvPicPr>
          <p:cNvPr id="11" name="Image 1" descr="+3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41575" y="3492500"/>
            <a:ext cx="552450" cy="838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6209" y="3778250"/>
            <a:ext cx="6032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약 0</a:t>
            </a:r>
            <a:endParaRPr lang="en-US" sz="2400" dirty="0"/>
          </a:p>
        </p:txBody>
      </p:sp>
      <p:pic>
        <p:nvPicPr>
          <p:cNvPr id="13" name="Image 2" descr="약 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96209" y="4254500"/>
            <a:ext cx="552450" cy="76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6455" y="4451350"/>
            <a:ext cx="4166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4B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67767" y="4730750"/>
            <a:ext cx="990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899 ▶ 971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534940" y="4451350"/>
            <a:ext cx="4166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8B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222500" y="4730750"/>
            <a:ext cx="990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954 ▶ 988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804554" y="4451350"/>
            <a:ext cx="5832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32B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710484" y="4730750"/>
            <a:ext cx="723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-0.29%p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041900" y="1835150"/>
            <a:ext cx="6324600" cy="8001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80000" y="1873250"/>
            <a:ext cx="6248400" cy="7239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38750" y="2143125"/>
            <a:ext cx="93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TRY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54750" y="1968500"/>
            <a:ext cx="50623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전 비교: 4B 338 ▶ 8B 351 ▶ 32B 368.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그래서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0.968을 기대했다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041900" y="3143250"/>
            <a:ext cx="6324600" cy="80010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80000" y="3181350"/>
            <a:ext cx="6248400" cy="72390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238750" y="3451225"/>
            <a:ext cx="93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CAUSE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54750" y="3276600"/>
            <a:ext cx="50623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실제 0.95621, 8B와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같았다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큰 모델은 이미 문제 형식을 알았다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041900" y="4451350"/>
            <a:ext cx="6324600" cy="53340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80000" y="4489450"/>
            <a:ext cx="6248400" cy="45720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238750" y="4625975"/>
            <a:ext cx="93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NEXT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254750" y="4584700"/>
            <a:ext cx="50623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더 큰 모델 대신, 다르게 틀리는 모델들의 투표로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09/18</a:t>
            </a:r>
            <a:endParaRPr lang="en-US" sz="16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F8CF49C2-D105-4367-8AC5-8C7943E6C535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D0E69D7B-D22B-40A1-B350-9E868DE8BFAE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1489075"/>
            <a:ext cx="1088339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STAGE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282825"/>
            <a:ext cx="1088339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더 큰 모델 하나 대신,</a:t>
            </a:r>
            <a:endParaRPr lang="en-US" sz="2400" dirty="0"/>
          </a:p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다르게 틀리는 모델들이 투표한다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3394075"/>
            <a:ext cx="5156200" cy="175895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3432175"/>
            <a:ext cx="5080000" cy="168275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3616325"/>
            <a:ext cx="48530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IDEA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750" y="3902075"/>
            <a:ext cx="485305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다르게 틀리는 모델을 모은다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47750" y="4403725"/>
            <a:ext cx="485305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Qwen 32B·8B에 다른 회사 모델 Gemma 4 31B,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그리고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Qwen3.8 27B까지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3394075"/>
            <a:ext cx="5156200" cy="175895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8400" y="3432175"/>
            <a:ext cx="5080000" cy="168275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2550" y="3616325"/>
            <a:ext cx="48530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IDEA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2550" y="3902075"/>
            <a:ext cx="4853051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 문항에 계산 집중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32550" y="4403725"/>
            <a:ext cx="485305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전체를 다시 푸는 대신, 헷갈리는 434문항만 조건을 바꿔 다시 푼다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10/18</a:t>
            </a:r>
            <a:endParaRPr lang="en-US" sz="16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F805C63-9029-4224-827F-DC2327A25ED6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6250FA04-9C89-44A5-834C-B7AA914ACC10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COMBO CHAIN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 표씩 더할 때마다 한 계단씩 올랐다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400425"/>
            <a:ext cx="10566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8194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3,210</a:t>
            </a:r>
            <a:endParaRPr lang="en-US" sz="2000" dirty="0"/>
          </a:p>
        </p:txBody>
      </p:sp>
      <p:pic>
        <p:nvPicPr>
          <p:cNvPr id="8" name="Image 0" descr="① 32B 단독 3,2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7925" y="3124200"/>
            <a:ext cx="4572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92375" y="253365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3,225</a:t>
            </a:r>
            <a:endParaRPr lang="en-US" sz="2000" dirty="0"/>
          </a:p>
        </p:txBody>
      </p:sp>
      <p:pic>
        <p:nvPicPr>
          <p:cNvPr id="10" name="Image 1" descr="② 순서 바꿔 2번 3,22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17775" y="2838450"/>
            <a:ext cx="457200" cy="552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32225" y="234315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3,232</a:t>
            </a:r>
            <a:endParaRPr lang="en-US" sz="2000" dirty="0"/>
          </a:p>
        </p:txBody>
      </p:sp>
      <p:pic>
        <p:nvPicPr>
          <p:cNvPr id="12" name="Image 2" descr="③ +8B 한 표 3,23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57625" y="2647950"/>
            <a:ext cx="457200" cy="742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72075" y="22479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3,234</a:t>
            </a:r>
            <a:endParaRPr lang="en-US" sz="2000" dirty="0"/>
          </a:p>
        </p:txBody>
      </p:sp>
      <p:pic>
        <p:nvPicPr>
          <p:cNvPr id="14" name="Image 3" descr="④ ②+③ 3,23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97475" y="2552700"/>
            <a:ext cx="457200" cy="838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11925" y="215265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3,240</a:t>
            </a:r>
            <a:endParaRPr lang="en-US" sz="2000" dirty="0"/>
          </a:p>
        </p:txBody>
      </p:sp>
      <p:pic>
        <p:nvPicPr>
          <p:cNvPr id="16" name="Image 4" descr="⑤ +Gemma 3,240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7325" y="2457450"/>
            <a:ext cx="457200" cy="933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51775" y="196215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3,247</a:t>
            </a:r>
            <a:endParaRPr lang="en-US" sz="2000" dirty="0"/>
          </a:p>
        </p:txBody>
      </p:sp>
      <p:pic>
        <p:nvPicPr>
          <p:cNvPr id="18" name="Image 5" descr="⑥ +새 8B 3,247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77175" y="2266950"/>
            <a:ext cx="457200" cy="11239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91625" y="196215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3,247</a:t>
            </a:r>
            <a:endParaRPr lang="en-US" sz="2000" dirty="0"/>
          </a:p>
        </p:txBody>
      </p:sp>
      <p:pic>
        <p:nvPicPr>
          <p:cNvPr id="20" name="Image 6" descr="⑦ ⑤+재채점 3,247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17025" y="2266950"/>
            <a:ext cx="457200" cy="11239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531475" y="18669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3,252</a:t>
            </a:r>
            <a:endParaRPr lang="en-US" sz="2000" dirty="0"/>
          </a:p>
        </p:txBody>
      </p:sp>
      <p:pic>
        <p:nvPicPr>
          <p:cNvPr id="22" name="Image 7" descr="⑧ 5자 투표 3,252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6875" y="2171700"/>
            <a:ext cx="457200" cy="12192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12800" y="182245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맞힌 문항 수 · 3,200부터 · 1칸 = 4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78740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① 32B 단독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212725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② 순서 바꿔 2번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346710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③ +8B 한 표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80695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④ ②+③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14680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⑤ +Gemma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748665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⑥ +새 8B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882650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⑦ ⑤+재채점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166350" y="3486150"/>
            <a:ext cx="1238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⑧ 5자 투표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825500" y="4235450"/>
            <a:ext cx="10541000" cy="59690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863600" y="4273550"/>
            <a:ext cx="10464800" cy="52070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980784" y="4330700"/>
            <a:ext cx="612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+42</a:t>
            </a:r>
            <a:endParaRPr lang="en-US" sz="3200" dirty="0"/>
          </a:p>
        </p:txBody>
      </p:sp>
      <p:sp>
        <p:nvSpPr>
          <p:cNvPr id="35" name="Text 25"/>
          <p:cNvSpPr/>
          <p:nvPr/>
        </p:nvSpPr>
        <p:spPr>
          <a:xfrm>
            <a:off x="1713309" y="4400550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 단독 대비 누적 +42문항, 우연 폭(±18) 밖</a:t>
            </a:r>
            <a:endParaRPr lang="en-US" sz="1600" dirty="0"/>
          </a:p>
        </p:txBody>
      </p:sp>
      <p:sp>
        <p:nvSpPr>
          <p:cNvPr id="36" name="Text 26"/>
          <p:cNvSpPr/>
          <p:nvPr/>
        </p:nvSpPr>
        <p:spPr>
          <a:xfrm>
            <a:off x="6488509" y="4400550"/>
            <a:ext cx="4821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한 계단(+1~+7)은 우연 폭 안, 확실한 건 누적뿐</a:t>
            </a:r>
            <a:endParaRPr lang="en-US" sz="1600" dirty="0"/>
          </a:p>
        </p:txBody>
      </p:sp>
      <p:sp>
        <p:nvSpPr>
          <p:cNvPr id="38" name="Text 28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11/18</a:t>
            </a:r>
            <a:endParaRPr lang="en-US" sz="160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60D34E1A-AD60-4D27-9B8B-650E758D4829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598DE26E-637C-4F03-924A-E8557CBFF995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NEW PLAYER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Gemma는 실력이 비슷하고, 틀리는 곳이 달랐다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1873250"/>
            <a:ext cx="34184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96.46%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2584450"/>
            <a:ext cx="341843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Gemma 4 31B를 학습 없이 그대로 썼는데, 내부 검증 점수가 우리 모델 중 최고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6467" y="1873250"/>
            <a:ext cx="34185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0.95084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36467" y="2584450"/>
            <a:ext cx="34185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 단독 점수. 32B(0.95621)보다 약간 낮지만 우연 폭 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60234" y="1873250"/>
            <a:ext cx="34185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60234" y="2584450"/>
            <a:ext cx="341853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32B와 답이 다른 테스트 문항(5.2%). 둘 다 틀린 문항은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적고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대부분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라벨 문제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" y="3644900"/>
            <a:ext cx="10541000" cy="74295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600" y="3683000"/>
            <a:ext cx="10464800" cy="66675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816350"/>
            <a:ext cx="10399395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실력은 비슷 + 틀리는 곳이 다름 = 투표 멤버로 이상적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00" y="4654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투표는 다수결: Gemma는 틀린 답에도 99% 확신을 주는 일이 많았다(오답 38건 중 27건)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12/18</a:t>
            </a:r>
            <a:endParaRPr lang="en-US" sz="16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C911BFC-B7EE-4407-8ED7-328E057A7B76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172C37AF-5786-4E36-91EC-A1FE596D527B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HARD MODE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 434문항만 조건을 바꿔 다시 풀었다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1835150"/>
            <a:ext cx="4038600" cy="2825750"/>
          </a:xfrm>
          <a:prstGeom prst="rect">
            <a:avLst/>
          </a:prstGeom>
          <a:noFill/>
          <a:ln w="25400">
            <a:solidFill>
              <a:srgbClr val="FF43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1873250"/>
            <a:ext cx="3962400" cy="2749550"/>
          </a:xfrm>
          <a:prstGeom prst="rect">
            <a:avLst/>
          </a:prstGeom>
          <a:noFill/>
          <a:ln w="12700">
            <a:solidFill>
              <a:srgbClr val="FF43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7750" y="2057400"/>
            <a:ext cx="37019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 문항 = 셋 중 하나라도 해당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7750" y="2425700"/>
            <a:ext cx="37019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① 모델끼리 답이 갈린다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2794000"/>
            <a:ext cx="37019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② 32B가 1·2등 보기를 거의 못 가른다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7750" y="3162300"/>
            <a:ext cx="37019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③ 보기 순서만 바꿔도 32B 답이 바뀐다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5563" y="3759199"/>
            <a:ext cx="1012620" cy="901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434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244518" y="3739655"/>
            <a:ext cx="23833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문항 · 결과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보기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전에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목록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고정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2400" y="1822450"/>
            <a:ext cx="63312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확신이 높다고 답이 안정적인 건 아니었다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32400" y="2171700"/>
            <a:ext cx="61468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2400" y="2254250"/>
            <a:ext cx="17659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99%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099300" y="2387600"/>
            <a:ext cx="44082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Gemma는 이 문항 대부분에 99% 이상 확신했다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2400" y="2870200"/>
            <a:ext cx="61468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2400" y="2952750"/>
            <a:ext cx="17659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dirty="0">
                <a:solidFill>
                  <a:srgbClr val="FF4365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30~42%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99300" y="2952750"/>
            <a:ext cx="45207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그런데 보기 순서·해상도만 바꾸면 답이 바뀌었다 (32B도 약 25%)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2400" y="3568700"/>
            <a:ext cx="61468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2400" y="3651250"/>
            <a:ext cx="17659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350▶247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99300" y="3651250"/>
            <a:ext cx="440829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여러 조건의 평균을 쓰자 두 모델이 갈린 문항이 줄었다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32400" y="4267200"/>
            <a:ext cx="61468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2400" y="4349750"/>
            <a:ext cx="17659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474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099300" y="4349750"/>
            <a:ext cx="45968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문항만 다시 풀어 A100 몇 분 (16기 1등 풀이 참고)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13/18</a:t>
            </a:r>
            <a:endParaRPr lang="en-US" sz="16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C6F5F0F8-7520-4356-AA58-F47403C0E9FC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C81248C3-A971-41B9-AFF0-CFAA9733C931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CONTINUE?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막힐 때마다 원인을 찾고 다음을 골랐다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81150" y="1771650"/>
            <a:ext cx="2969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3950" y="1771650"/>
            <a:ext cx="2969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86750" y="1771650"/>
            <a:ext cx="2969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5500" y="2070100"/>
            <a:ext cx="10541000" cy="7747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600" y="2108200"/>
            <a:ext cx="10464800" cy="6985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pic>
        <p:nvPicPr>
          <p:cNvPr id="11" name="Image 0" descr="잃은 목숨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2276475"/>
            <a:ext cx="457200" cy="3619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81150" y="21907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조용한 버그: 768² 학습이 기존 모델 복제로</a:t>
            </a:r>
            <a:endParaRPr lang="en-US" sz="1600" dirty="0"/>
          </a:p>
        </p:txBody>
      </p:sp>
      <p:pic>
        <p:nvPicPr>
          <p:cNvPr id="13" name="Image 1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65650" y="2228850"/>
            <a:ext cx="2667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3950" y="21907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 코드가 해상도 설정을 무시</a:t>
            </a:r>
            <a:endParaRPr lang="en-US" sz="1600" dirty="0"/>
          </a:p>
        </p:txBody>
      </p:sp>
      <p:pic>
        <p:nvPicPr>
          <p:cNvPr id="15" name="Image 2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18450" y="2228850"/>
            <a:ext cx="2667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6750" y="21907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실제 해상도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출력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해시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비교 검사 추가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25500" y="2971800"/>
            <a:ext cx="10541000" cy="7747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3600" y="3009900"/>
            <a:ext cx="10464800" cy="6985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pic>
        <p:nvPicPr>
          <p:cNvPr id="19" name="Image 3" descr="잃은 목숨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3178175"/>
            <a:ext cx="457200" cy="3619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81150" y="3225800"/>
            <a:ext cx="29693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32B: 0.968 기대 ▶ 0.95621</a:t>
            </a:r>
            <a:endParaRPr lang="en-US" sz="1600" dirty="0"/>
          </a:p>
        </p:txBody>
      </p:sp>
      <p:pic>
        <p:nvPicPr>
          <p:cNvPr id="21" name="Image 4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65650" y="3130550"/>
            <a:ext cx="2667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33950" y="30924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큰 모델은 추가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효과가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거의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없음</a:t>
            </a:r>
            <a:endParaRPr lang="en-US" sz="1600" dirty="0"/>
          </a:p>
        </p:txBody>
      </p:sp>
      <p:pic>
        <p:nvPicPr>
          <p:cNvPr id="23" name="Image 5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18450" y="3130550"/>
            <a:ext cx="2667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86750" y="30924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다른 모델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투표로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전환</a:t>
            </a:r>
            <a:endParaRPr lang="en-US" sz="1600" dirty="0">
              <a:solidFill>
                <a:srgbClr val="7CFC00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▶ +42문항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825500" y="3873500"/>
            <a:ext cx="10541000" cy="7747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63600" y="3911600"/>
            <a:ext cx="10464800" cy="6985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pic>
        <p:nvPicPr>
          <p:cNvPr id="27" name="Image 6" descr="잃은 목숨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4079875"/>
            <a:ext cx="457200" cy="3619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581150" y="39941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검증 불일치: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내부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검증과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Kaggle이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두 번 반대</a:t>
            </a:r>
            <a:endParaRPr lang="en-US" sz="1600" dirty="0"/>
          </a:p>
        </p:txBody>
      </p:sp>
      <p:pic>
        <p:nvPicPr>
          <p:cNvPr id="29" name="Image 7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65650" y="4032250"/>
            <a:ext cx="2667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33950" y="4127500"/>
            <a:ext cx="29693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후보끼리 차이가 우연 폭 안</a:t>
            </a:r>
            <a:endParaRPr lang="en-US" sz="1600" dirty="0"/>
          </a:p>
        </p:txBody>
      </p:sp>
      <p:pic>
        <p:nvPicPr>
          <p:cNvPr id="31" name="Image 8" descr="오른쪽 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18450" y="4032250"/>
            <a:ext cx="266700" cy="457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86750" y="399415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규칙을 결과 전에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고정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우연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폭 넘을 때만 변경</a:t>
            </a:r>
            <a:endParaRPr lang="en-US" sz="1600" dirty="0"/>
          </a:p>
        </p:txBody>
      </p:sp>
      <p:sp>
        <p:nvSpPr>
          <p:cNvPr id="33" name="Shape 22"/>
          <p:cNvSpPr/>
          <p:nvPr/>
        </p:nvSpPr>
        <p:spPr>
          <a:xfrm>
            <a:off x="812800" y="4819650"/>
            <a:ext cx="10566400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812800" y="4927600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안 된 것</a:t>
            </a:r>
            <a:endParaRPr lang="en-US" sz="1600" dirty="0"/>
          </a:p>
        </p:txBody>
      </p:sp>
      <p:sp>
        <p:nvSpPr>
          <p:cNvPr id="35" name="Text 24"/>
          <p:cNvSpPr/>
          <p:nvPr/>
        </p:nvSpPr>
        <p:spPr>
          <a:xfrm>
            <a:off x="1981200" y="4927600"/>
            <a:ext cx="96799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OCR · 학습 해상도 · 8B 1024² · 잘라 확대·타일링 · 4B 순서 평균 · 32B 학습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14/18</a:t>
            </a:r>
            <a:endParaRPr lang="en-US" sz="16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00148708-20E2-4AF9-81AD-A48381A8BF7C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273E55F1-6328-442E-AC7D-7BB387A184F0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HIGH SCORE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3일 동안 0.70241에서 0.96872까지 올렸다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921125"/>
            <a:ext cx="10566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6344" y="3530600"/>
            <a:ext cx="88933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0.70241</a:t>
            </a:r>
            <a:endParaRPr lang="en-US" sz="2000" dirty="0"/>
          </a:p>
        </p:txBody>
      </p:sp>
      <p:pic>
        <p:nvPicPr>
          <p:cNvPr id="8" name="Image 0" descr="베이스 0.7024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6975" y="3835400"/>
            <a:ext cx="552450" cy="7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67143" y="2292350"/>
            <a:ext cx="89262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0.89037</a:t>
            </a:r>
            <a:endParaRPr lang="en-US" sz="2000" dirty="0"/>
          </a:p>
        </p:txBody>
      </p:sp>
      <p:pic>
        <p:nvPicPr>
          <p:cNvPr id="10" name="Image 1" descr="4B 학습 0.89037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17775" y="2597150"/>
            <a:ext cx="552450" cy="1314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87943" y="200660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0.93029</a:t>
            </a:r>
            <a:endParaRPr lang="en-US" sz="2000" dirty="0"/>
          </a:p>
        </p:txBody>
      </p:sp>
      <p:pic>
        <p:nvPicPr>
          <p:cNvPr id="12" name="Image 2" descr="768² 0.93029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8575" y="2311400"/>
            <a:ext cx="552450" cy="1600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08743" y="191135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0.95233</a:t>
            </a:r>
            <a:endParaRPr lang="en-US" sz="2000" dirty="0"/>
          </a:p>
        </p:txBody>
      </p:sp>
      <p:pic>
        <p:nvPicPr>
          <p:cNvPr id="14" name="Image 3" descr="8B 0.9523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59375" y="2216150"/>
            <a:ext cx="552450" cy="1695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9543" y="191135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0.95621</a:t>
            </a:r>
            <a:endParaRPr lang="en-US" sz="2000" dirty="0"/>
          </a:p>
        </p:txBody>
      </p:sp>
      <p:pic>
        <p:nvPicPr>
          <p:cNvPr id="16" name="Image 4" descr="32B 0.95621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80175" y="2216150"/>
            <a:ext cx="552450" cy="1695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50343" y="181610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0.96276</a:t>
            </a:r>
            <a:endParaRPr lang="en-US" sz="2000" dirty="0"/>
          </a:p>
        </p:txBody>
      </p:sp>
      <p:pic>
        <p:nvPicPr>
          <p:cNvPr id="18" name="Image 5" descr="+8B 표 0.96276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00975" y="2120900"/>
            <a:ext cx="552450" cy="1790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971143" y="181610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0.96514</a:t>
            </a:r>
            <a:endParaRPr lang="en-US" sz="2000" dirty="0"/>
          </a:p>
        </p:txBody>
      </p:sp>
      <p:pic>
        <p:nvPicPr>
          <p:cNvPr id="20" name="Image 6" descr="+Gemma 0.96514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21775" y="2120900"/>
            <a:ext cx="552450" cy="17907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291943" y="1816100"/>
            <a:ext cx="90054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CFC0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0.96872</a:t>
            </a:r>
            <a:endParaRPr lang="en-US" sz="2000" dirty="0"/>
          </a:p>
        </p:txBody>
      </p:sp>
      <p:pic>
        <p:nvPicPr>
          <p:cNvPr id="22" name="Image 7" descr="5자 투표 0.96872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442575" y="2120900"/>
            <a:ext cx="552450" cy="17907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12800" y="1771650"/>
            <a:ext cx="1320800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0.68부터 쌓음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색 = 날짜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■ 9/21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■ 9/22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■ 9/23 새벽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7874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베이스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21082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4B 학습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34290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768²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7498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8B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0706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73914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+8B 표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87122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+Gemma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033000" y="4006850"/>
            <a:ext cx="1371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5자 투표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825500" y="4438650"/>
            <a:ext cx="5181600" cy="5080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863600" y="4476750"/>
            <a:ext cx="5105400" cy="4318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22350" y="4559300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1순위 0.96872 · 5자 투표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6184900" y="4438650"/>
            <a:ext cx="5181600" cy="5080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223000" y="4476750"/>
            <a:ext cx="5105400" cy="4318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381750" y="4559300"/>
            <a:ext cx="4931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2순위 0.96753 · 4자 투표 (59문항 차이)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15/18</a:t>
            </a:r>
            <a:endParaRPr lang="en-US" sz="16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037D6A9D-5BAE-4970-8B0F-BBD8EEC47AA2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EA8FA7A4-BE61-4AC6-BF44-1CE5A73254A4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FINAL BOSS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직접 확인한 오답 12개 중 11개가 라벨 문제였다</a:t>
            </a:r>
            <a:endParaRPr lang="en-US" sz="2400" dirty="0"/>
          </a:p>
        </p:txBody>
      </p:sp>
      <p:pic>
        <p:nvPicPr>
          <p:cNvPr id="6" name="Image 0" descr="오답 12개 중 11개는 라벨 문제, 1개는 그 외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873250"/>
            <a:ext cx="3505200" cy="1066800"/>
          </a:xfrm>
          <a:prstGeom prst="rect">
            <a:avLst/>
          </a:prstGeom>
        </p:spPr>
      </p:pic>
      <p:pic>
        <p:nvPicPr>
          <p:cNvPr id="7" name="Image 1" descr="범례 라벨 문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3213100"/>
            <a:ext cx="76200" cy="76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600" y="3117850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라벨 오류 · 정답이 둘 · 모호: 11개</a:t>
            </a:r>
            <a:endParaRPr lang="en-US" sz="1600" dirty="0"/>
          </a:p>
        </p:txBody>
      </p:sp>
      <p:pic>
        <p:nvPicPr>
          <p:cNvPr id="9" name="Image 2" descr="범례 그 외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556000"/>
            <a:ext cx="76200" cy="76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0600" y="3460750"/>
            <a:ext cx="952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그 외: 1개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12800" y="3905250"/>
            <a:ext cx="45783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32B가 학습 뒤에도 정답과 </a:t>
            </a:r>
            <a:r>
              <a:rPr lang="en-US" sz="16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다르게</a:t>
            </a: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답한</a:t>
            </a:r>
            <a:endParaRPr lang="en-US" sz="1600" dirty="0">
              <a:solidFill>
                <a:srgbClr val="A8A8C0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내부</a:t>
            </a: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검증 문항 12개를 사진으로 하나씩 확인했다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867400" y="1873250"/>
            <a:ext cx="5677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우리 오답률 (최종 Kaggle Public)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867400" y="2241550"/>
            <a:ext cx="56771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3.1%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5867400" y="3155950"/>
            <a:ext cx="5677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라벨 문제 비율 (추정)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867400" y="3524250"/>
            <a:ext cx="56771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36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1.5~2%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5867400" y="4438650"/>
            <a:ext cx="567715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▶ 라벨 문제를 1.5~2%로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잡으면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,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   </a:t>
            </a:r>
            <a:r>
              <a:rPr lang="en-US" sz="1600" dirty="0" err="1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우리</a:t>
            </a:r>
            <a:r>
              <a:rPr lang="en-US" sz="16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점수는 도달 가능한 천장 근처다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16/18</a:t>
            </a:r>
            <a:endParaRPr lang="en-US" sz="16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49869981-6067-4C59-AB3D-B134D73CD508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910AE03C-3F0E-46D2-9B6B-11FBD5AC2AC7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8128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POWER-UPS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0883392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배운 것 세 가지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5500" y="1885950"/>
            <a:ext cx="3361234" cy="1866900"/>
          </a:xfrm>
          <a:prstGeom prst="rect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3600" y="1924050"/>
            <a:ext cx="3285034" cy="1790700"/>
          </a:xfrm>
          <a:prstGeom prst="rect">
            <a:avLst/>
          </a:prstGeom>
          <a:noFill/>
          <a:ln w="12700">
            <a:solidFill>
              <a:srgbClr val="FFD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50" y="2057400"/>
            <a:ext cx="3056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2350" y="2317750"/>
            <a:ext cx="305656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FD23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해상도 &gt; 크기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22350" y="2794000"/>
            <a:ext cx="305656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추론 해상도(+4.0%p)가 모델 크기(+2.2%p)보다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세다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.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학습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해상도는 무관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15334" y="1885950"/>
            <a:ext cx="3361234" cy="1866900"/>
          </a:xfrm>
          <a:prstGeom prst="rect">
            <a:avLst/>
          </a:prstGeom>
          <a:noFill/>
          <a:ln w="25400">
            <a:solidFill>
              <a:srgbClr val="2D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434" y="1924050"/>
            <a:ext cx="3285034" cy="1790700"/>
          </a:xfrm>
          <a:prstGeom prst="rect">
            <a:avLst/>
          </a:prstGeom>
          <a:noFill/>
          <a:ln w="12700">
            <a:solidFill>
              <a:srgbClr val="2D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2184" y="2057400"/>
            <a:ext cx="3056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2184" y="2317750"/>
            <a:ext cx="305656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2DE2E6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키운 다음은 투표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12184" y="2794000"/>
            <a:ext cx="30565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키울수록 추가 학습 몫이 준다(+72 ▶ +34 ▶ 0). 다음은 투표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5167" y="1885950"/>
            <a:ext cx="3361234" cy="1866900"/>
          </a:xfrm>
          <a:prstGeom prst="rect">
            <a:avLst/>
          </a:prstGeom>
          <a:noFill/>
          <a:ln w="25400">
            <a:solidFill>
              <a:srgbClr val="7CF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3267" y="1924050"/>
            <a:ext cx="3285034" cy="1790700"/>
          </a:xfrm>
          <a:prstGeom prst="rect">
            <a:avLst/>
          </a:prstGeom>
          <a:noFill/>
          <a:ln w="12700">
            <a:solidFill>
              <a:srgbClr val="7CF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017" y="2057400"/>
            <a:ext cx="3056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7CFC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02017" y="2317750"/>
            <a:ext cx="305656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7CFC00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확신 대신 안정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02017" y="2794000"/>
            <a:ext cx="305656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확신은 안정성이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아니다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.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문항만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다시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풀면</a:t>
            </a:r>
            <a:endParaRPr lang="en-US" sz="1600" dirty="0">
              <a:solidFill>
                <a:srgbClr val="FFFFFF"/>
              </a:solidFill>
              <a:latin typeface="NeoDunggeunmo Pro" pitchFamily="34" charset="0"/>
              <a:ea typeface="NeoDunggeunmo Pro" pitchFamily="34" charset="-122"/>
              <a:cs typeface="NeoDunggeunmo Pro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쉽게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정리된다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4019550"/>
            <a:ext cx="10883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NEXT LEVEL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4286250"/>
            <a:ext cx="3386634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4368800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헷갈리는 문항에 '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생각하고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답하기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’</a:t>
            </a:r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모드</a:t>
            </a: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 (198/434)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2634" y="4286250"/>
            <a:ext cx="3386634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2634" y="4368800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Qwen·Gemma 외 다른 계열 모델 추가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92467" y="4286250"/>
            <a:ext cx="3386634" cy="0"/>
          </a:xfrm>
          <a:prstGeom prst="line">
            <a:avLst/>
          </a:prstGeom>
          <a:noFill/>
          <a:ln w="12700">
            <a:solidFill>
              <a:srgbClr val="2A2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2467" y="4368800"/>
            <a:ext cx="34882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Gemma 추가 학습 효과 확인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0" y="6248400"/>
            <a:ext cx="132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600" dirty="0">
                <a:solidFill>
                  <a:srgbClr val="A8A8C0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17/18</a:t>
            </a:r>
            <a:endParaRPr lang="en-US" sz="16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2F36896-1DB5-473B-ACA5-E72D4F5D02F5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338D8BA7-9D98-496B-8250-27C60A1D3D36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12336" y="1704975"/>
            <a:ext cx="37673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40"/>
              </a:lnSpc>
              <a:buNone/>
            </a:pPr>
            <a:r>
              <a:rPr lang="en-US" sz="3200" dirty="0">
                <a:solidFill>
                  <a:srgbClr val="FFD23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49520" y="2422525"/>
            <a:ext cx="20929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16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eoDunggeunmo Pro" pitchFamily="34" charset="0"/>
                <a:ea typeface="NeoDunggeunmo Pro" pitchFamily="34" charset="-122"/>
                <a:cs typeface="NeoDunggeunmo Pro" pitchFamily="34" charset="-120"/>
              </a:rPr>
              <a:t>감사합니다</a:t>
            </a:r>
            <a:endParaRPr lang="en-US" sz="3200" dirty="0"/>
          </a:p>
        </p:txBody>
      </p:sp>
      <p:pic>
        <p:nvPicPr>
          <p:cNvPr id="7" name="Image 0" descr="픽셀 하트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3679825"/>
            <a:ext cx="457200" cy="361950"/>
          </a:xfrm>
          <a:prstGeom prst="rect">
            <a:avLst/>
          </a:prstGeom>
        </p:spPr>
      </p:pic>
      <p:pic>
        <p:nvPicPr>
          <p:cNvPr id="8" name="Image 1" descr="픽셀 하트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400" y="3679825"/>
            <a:ext cx="457200" cy="361950"/>
          </a:xfrm>
          <a:prstGeom prst="rect">
            <a:avLst/>
          </a:prstGeom>
        </p:spPr>
      </p:pic>
      <p:pic>
        <p:nvPicPr>
          <p:cNvPr id="9" name="Image 2" descr="픽셀 하트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7000" y="3679825"/>
            <a:ext cx="457200" cy="361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18710" y="4270375"/>
            <a:ext cx="2354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CONTINUE? Q &amp; A</a:t>
            </a:r>
            <a:endParaRPr lang="en-US" sz="12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3BA1F30-E3B3-4DC7-AE96-0086C123BB45}"/>
              </a:ext>
            </a:extLst>
          </p:cNvPr>
          <p:cNvSpPr/>
          <p:nvPr/>
        </p:nvSpPr>
        <p:spPr>
          <a:xfrm>
            <a:off x="719328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>
                <a:solidFill>
                  <a:srgbClr val="2DE2E6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HI-SCORE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0.96872</a:t>
            </a:r>
            <a:endParaRPr lang="en-US" sz="12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DE9451B4-F6B1-4B4B-BF8B-15EE310457D2}"/>
              </a:ext>
            </a:extLst>
          </p:cNvPr>
          <p:cNvSpPr/>
          <p:nvPr/>
        </p:nvSpPr>
        <p:spPr>
          <a:xfrm>
            <a:off x="812800" y="304800"/>
            <a:ext cx="41859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FF4365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1UP</a:t>
            </a:r>
            <a:r>
              <a:rPr lang="en-US" sz="1200" dirty="0">
                <a:solidFill>
                  <a:srgbClr val="FFFFFF"/>
                </a:solidFill>
                <a:latin typeface="Press Start 2P" panose="02000503000000000000" pitchFamily="1" charset="0"/>
                <a:ea typeface="VT323" pitchFamily="34" charset="-122"/>
                <a:cs typeface="VT323" pitchFamily="34" charset="-120"/>
              </a:rPr>
              <a:t> The 2nd AI Challenge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1555</Words>
  <Application>Microsoft Office PowerPoint</Application>
  <PresentationFormat>와이드스크린</PresentationFormat>
  <Paragraphs>390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NeoDunggeunmo Pro</vt:lpstr>
      <vt:lpstr>Press Start 2P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 속 글자를 읽고 4지선다 풀기</dc:title>
  <dc:subject>PptxGenJS Presentation</dc:subject>
  <dc:creator>PptxGenJS</dc:creator>
  <cp:lastModifiedBy>SSAFY</cp:lastModifiedBy>
  <cp:revision>6</cp:revision>
  <dcterms:created xsi:type="dcterms:W3CDTF">2026-09-23T02:13:49Z</dcterms:created>
  <dcterms:modified xsi:type="dcterms:W3CDTF">2026-09-23T02:39:34Z</dcterms:modified>
</cp:coreProperties>
</file>